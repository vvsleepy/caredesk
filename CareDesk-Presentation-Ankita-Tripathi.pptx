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adecbcdcb14cfd" /><Relationship Type="http://schemas.openxmlformats.org/officeDocument/2006/relationships/extended-properties" Target="/docProps/app.xml" Id="Rabbc4937962f45e2" /><Relationship Type="http://schemas.openxmlformats.org/officeDocument/2006/relationships/officeDocument" Target="/ppt/presentation.xml" Id="R1d4621b88932487e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172f45ec78de4513"/>
  </p:sldMasterIdLst>
  <p:notesMasterIdLst>
    <p:notesMasterId xmlns:r="http://schemas.openxmlformats.org/officeDocument/2006/relationships" r:id="R2be4cca84b934e3f"/>
  </p:notesMasterIdLst>
  <p:sldIdLst>
    <p:sldId xmlns:r="http://schemas.openxmlformats.org/officeDocument/2006/relationships" id="256" r:id="R07c8a7aec7b448c6"/>
    <p:sldId xmlns:r="http://schemas.openxmlformats.org/officeDocument/2006/relationships" id="257" r:id="Re2815cde42ff4589"/>
    <p:sldId xmlns:r="http://schemas.openxmlformats.org/officeDocument/2006/relationships" id="258" r:id="R0db7974c395144d9"/>
    <p:sldId xmlns:r="http://schemas.openxmlformats.org/officeDocument/2006/relationships" id="259" r:id="Rd51cbc7c7c164e76"/>
    <p:sldId xmlns:r="http://schemas.openxmlformats.org/officeDocument/2006/relationships" id="260" r:id="Ra512f72501054e70"/>
    <p:sldId xmlns:r="http://schemas.openxmlformats.org/officeDocument/2006/relationships" id="261" r:id="R4a974da4073b4023"/>
    <p:sldId xmlns:r="http://schemas.openxmlformats.org/officeDocument/2006/relationships" id="262" r:id="Ra00a755fbf5d40b2"/>
    <p:sldId xmlns:r="http://schemas.openxmlformats.org/officeDocument/2006/relationships" id="263" r:id="R2eb7c12d799043d2"/>
    <p:sldId xmlns:r="http://schemas.openxmlformats.org/officeDocument/2006/relationships" id="264" r:id="R4f8349f20bdc47e6"/>
    <p:sldId xmlns:r="http://schemas.openxmlformats.org/officeDocument/2006/relationships" id="265" r:id="Re90ad72669214569"/>
  </p:sldIdLst>
  <p:sldSz cx="12192000" cy="6858000"/>
  <p:notesSz cx="6858000" cy="9144000"/>
  <p:embeddedFontLst>
    <p:embeddedFont>
      <p:font typeface="Inter"/>
      <p:regular xmlns:r="http://schemas.openxmlformats.org/officeDocument/2006/relationships" r:id="R002ded2b83ac4d10"/>
      <p:bold xmlns:r="http://schemas.openxmlformats.org/officeDocument/2006/relationships" r:id="R06957b5f194948e9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772a15c61f40e3" /><Relationship Type="http://schemas.openxmlformats.org/officeDocument/2006/relationships/slideMaster" Target="/ppt/slideMasters/slideMaster1.xml" Id="R172f45ec78de4513" /><Relationship Type="http://schemas.openxmlformats.org/officeDocument/2006/relationships/notesMaster" Target="/ppt/notesMasters/notesMaster1.xml" Id="R2be4cca84b934e3f" /><Relationship Type="http://schemas.openxmlformats.org/officeDocument/2006/relationships/presProps" Target="/ppt/presProps.xml" Id="R71ab97891636415e" /><Relationship Type="http://schemas.openxmlformats.org/officeDocument/2006/relationships/viewProps" Target="/ppt/viewProps.xml" Id="Ra105568a24724448" /><Relationship Type="http://schemas.openxmlformats.org/officeDocument/2006/relationships/tableStyles" Target="/ppt/tableStyles.xml" Id="R5b0cfee2c8b2407d" /><Relationship Type="http://schemas.openxmlformats.org/officeDocument/2006/relationships/font" Target="/ppt/fonts/font.dat" Id="R002ded2b83ac4d10" /><Relationship Type="http://schemas.openxmlformats.org/officeDocument/2006/relationships/font" Target="/ppt/fonts/font2.dat" Id="R06957b5f194948e9" /><Relationship Type="http://schemas.openxmlformats.org/officeDocument/2006/relationships/slide" Target="/ppt/slides/slide1.xml" Id="R07c8a7aec7b448c6" /><Relationship Type="http://schemas.openxmlformats.org/officeDocument/2006/relationships/slide" Target="/ppt/slides/slide2.xml" Id="Re2815cde42ff4589" /><Relationship Type="http://schemas.openxmlformats.org/officeDocument/2006/relationships/slide" Target="/ppt/slides/slide3.xml" Id="R0db7974c395144d9" /><Relationship Type="http://schemas.openxmlformats.org/officeDocument/2006/relationships/slide" Target="/ppt/slides/slide4.xml" Id="Rd51cbc7c7c164e76" /><Relationship Type="http://schemas.openxmlformats.org/officeDocument/2006/relationships/slide" Target="/ppt/slides/slide5.xml" Id="Ra512f72501054e70" /><Relationship Type="http://schemas.openxmlformats.org/officeDocument/2006/relationships/slide" Target="/ppt/slides/slide6.xml" Id="R4a974da4073b4023" /><Relationship Type="http://schemas.openxmlformats.org/officeDocument/2006/relationships/slide" Target="/ppt/slides/slide7.xml" Id="Ra00a755fbf5d40b2" /><Relationship Type="http://schemas.openxmlformats.org/officeDocument/2006/relationships/slide" Target="/ppt/slides/slide8.xml" Id="R2eb7c12d799043d2" /><Relationship Type="http://schemas.openxmlformats.org/officeDocument/2006/relationships/slide" Target="/ppt/slides/slide9.xml" Id="R4f8349f20bdc47e6" /><Relationship Type="http://schemas.openxmlformats.org/officeDocument/2006/relationships/slide" Target="/ppt/slides/slide10.xml" Id="Re90ad726692145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c39eed0c0d45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3ac98e9c7f46f0" /><Relationship Type="http://schemas.openxmlformats.org/officeDocument/2006/relationships/notesMaster" Target="/ppt/notesMasters/notesMaster1.xml" Id="R452e3d0e9fbe4a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a1734eda4c470c" /><Relationship Type="http://schemas.openxmlformats.org/officeDocument/2006/relationships/notesMaster" Target="/ppt/notesMasters/notesMaster1.xml" Id="Rc1f85abac9e543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564b31d4114efb" /><Relationship Type="http://schemas.openxmlformats.org/officeDocument/2006/relationships/notesMaster" Target="/ppt/notesMasters/notesMaster1.xml" Id="R48a0c39d3ff847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fa7a9062a54672" /><Relationship Type="http://schemas.openxmlformats.org/officeDocument/2006/relationships/notesMaster" Target="/ppt/notesMasters/notesMaster1.xml" Id="R7be36f65ae8a49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fda0c2ee944dce" /><Relationship Type="http://schemas.openxmlformats.org/officeDocument/2006/relationships/notesMaster" Target="/ppt/notesMasters/notesMaster1.xml" Id="R1036da1f680545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1c3f7e0dab4bbc" /><Relationship Type="http://schemas.openxmlformats.org/officeDocument/2006/relationships/notesMaster" Target="/ppt/notesMasters/notesMaster1.xml" Id="R9557367a741e4f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da8f75d2d5489c" /><Relationship Type="http://schemas.openxmlformats.org/officeDocument/2006/relationships/notesMaster" Target="/ppt/notesMasters/notesMaster1.xml" Id="R1e138b32d22640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74f50f071849bc" /><Relationship Type="http://schemas.openxmlformats.org/officeDocument/2006/relationships/notesMaster" Target="/ppt/notesMasters/notesMaster1.xml" Id="R39df8f16e8b743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9c5babb26b4964" /><Relationship Type="http://schemas.openxmlformats.org/officeDocument/2006/relationships/notesMaster" Target="/ppt/notesMasters/notesMaster1.xml" Id="R0574ade7a89d44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6a090379f84d6e" /><Relationship Type="http://schemas.openxmlformats.org/officeDocument/2006/relationships/notesMaster" Target="/ppt/notesMasters/notesMaster1.xml" Id="R815ce0bbf2bb49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Screenshot source: caredesk-main.zip / images / m4-localhost-browser.png</a:t>
            </a:r>
          </a:p>
          <a:p xmlns:a="http://schemas.openxmlformats.org/drawingml/2006/main">
            <a:r>
              <a:t>Screenshot source: caredesk-main.zip / images / m4-docker-compose.png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Screenshot source: caredesk-main.zip / images / m3-git-log.png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Screenshot source: caredesk-main.zip / images / m5-ci-pipeline.png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Screenshot source: caredesk-main.zip / images / m8-aws-ingress.png</a:t>
            </a:r>
          </a:p>
          <a:p xmlns:a="http://schemas.openxmlformats.org/drawingml/2006/main">
            <a:r>
              <a:t>Screenshot source: caredesk-main.zip / images / m8-k8s-pods.png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9ee5d357b04ee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93a089095f43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db874fe64b4b2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4ed96317ab4e3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9c580936c34a0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767dcaeb49499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6c1ec263cf451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9bbe3824e442d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d5e3d12980461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4fed37c027498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908a88d24a431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0034FD-337B-44B1-B44E-3F188E26A3F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439CD05-E2AD-4901-932C-FA31039C5FD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02D315E-E8CD-44E9-B3DA-28B42A0DF2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D6BD4A6-7433-4319-A922-1AC0AA3D55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805D538-F9FE-4BE8-A2EF-C64BEF9E81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02B049-A7BB-4208-8121-3792FBB6A0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A11E798-674C-41EE-A798-95BFB5BFD55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CDCC716-71EE-4D8D-8854-00F1135BE3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9047172-AFFA-4535-9816-F7318BCC56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76E140-6A64-483C-A564-2393882B77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0E013A-91AC-449A-9C01-DE2514A6C1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59E2B08-04A5-4155-8332-4FC4DEC115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A3A951E-CDB5-40AE-B3D0-25EB02C13B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BD53E6C-848D-4343-AA6A-A12461C734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0F3976C-D722-4B1F-ADD7-14CD84E0EE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EC0E96-408E-46BA-B3B8-4D598FF3A2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C6DBA0-F2B0-41E8-B1FE-B03EFB0B03E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7C19029-4496-4211-9A7E-7CF483BDE03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952CA43-7C1A-462B-9E0D-48221F05ED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4733B56-3A43-4D6F-998F-FB2752ACB1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8E976DE-4EAA-49B9-A099-ABCD1A3D54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7672170-B7F4-4B12-88EB-E2710FC3DC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3738518-9702-4B75-8718-9402047331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AA29071-DE2F-4366-BDDA-66026A63EA6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B849CA0-BEF7-43D6-9E9A-99312B5621E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6D2285D2-8733-4B64-9C25-D00958D40FB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13528D7-3369-4A93-9AF1-28FF3D37A58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9EECF531-FF24-4948-88AB-7562D4307E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E27322F-E138-45E2-9039-1886DF17B4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3140FBE-6BEB-4DC8-8BD1-22B695A1CE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3765397-5191-4EC3-B194-02ADBFA319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DCFE565-6F39-4654-B7B9-BC920A5442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5A883AB4-E92F-41AA-A9AB-890142072C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71B719B-B170-4407-80CD-54DF67B25B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657BD79C-BD54-4356-BF74-FF8FCB3C38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3DDB512-C7CC-4F97-8D29-B0AC56AD49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7F49E5-41AA-418B-8344-2B4205DDC2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E127E01-2776-43F4-BEB8-F71EAFA2A1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7E7FEC8-6BEE-4FC1-B13B-044C9348A4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764DE9A-3D1D-42E9-92C2-F963AA3049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2B873A0-254C-4175-AE63-40CA1E686B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DFF475C-22D7-416C-B06F-54CC6B9E85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D753A40-21DB-4CAF-937B-8D800D476B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37FBD24-9CB7-44EF-BE77-4CDF0E08B3B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BBDC5AC-62A6-48DF-927B-FA50D3B4B7A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5A5A31E-336B-4C4A-9F27-A2D5B65E1FF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B5FD14E-A1F5-4FB3-89A5-E253F1222E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2EA8DAC-0CBD-4B5F-96FB-D8AF024335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477E1C-AAC2-4236-A812-C8BB3A7194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659565-12FE-4651-8E6C-A73ECA1505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A6406A4-8BC2-4713-8131-53F67B1520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9C194E9-3A5A-4D99-AF1A-223D27DD79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5AB43CE-DC9A-4B89-B1EA-B6E52F6479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B182AD0-868D-4AF6-B2C9-3FC0F2F140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2938F5F-4D5D-4E5A-A91E-75A0B52090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8C22931-30E7-4566-8457-C568AEB7CB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DDCBFF-2C13-4224-93A7-5BBF7EC437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6F5B584-CC58-4D03-9260-087789436E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5644a1b50e4126" /><Relationship Type="http://schemas.openxmlformats.org/officeDocument/2006/relationships/slideLayout" Target="/ppt/slideLayouts/slideLayout1.xml" Id="Rca3c664df96142bd" /><Relationship Type="http://schemas.openxmlformats.org/officeDocument/2006/relationships/slideLayout" Target="/ppt/slideLayouts/slideLayout2.xml" Id="Rf875455808e7422f" /><Relationship Type="http://schemas.openxmlformats.org/officeDocument/2006/relationships/slideLayout" Target="/ppt/slideLayouts/slideLayout3.xml" Id="R6db3a634b38247cc" /><Relationship Type="http://schemas.openxmlformats.org/officeDocument/2006/relationships/slideLayout" Target="/ppt/slideLayouts/slideLayout4.xml" Id="Rad937c8a00004b57" /><Relationship Type="http://schemas.openxmlformats.org/officeDocument/2006/relationships/slideLayout" Target="/ppt/slideLayouts/slideLayout5.xml" Id="R07e65a4e2221410d" /><Relationship Type="http://schemas.openxmlformats.org/officeDocument/2006/relationships/slideLayout" Target="/ppt/slideLayouts/slideLayout6.xml" Id="R1b99b841a95c4d0e" /><Relationship Type="http://schemas.openxmlformats.org/officeDocument/2006/relationships/slideLayout" Target="/ppt/slideLayouts/slideLayout7.xml" Id="R9e1f5663d3ae4c76" /><Relationship Type="http://schemas.openxmlformats.org/officeDocument/2006/relationships/slideLayout" Target="/ppt/slideLayouts/slideLayout8.xml" Id="R757af7e4b1184626" /><Relationship Type="http://schemas.openxmlformats.org/officeDocument/2006/relationships/slideLayout" Target="/ppt/slideLayouts/slideLayout9.xml" Id="R5a8373bc13464f36" /><Relationship Type="http://schemas.openxmlformats.org/officeDocument/2006/relationships/slideLayout" Target="/ppt/slideLayouts/slideLayout10.xml" Id="R7ab1d9b984fa4674" /><Relationship Type="http://schemas.openxmlformats.org/officeDocument/2006/relationships/slideLayout" Target="/ppt/slideLayouts/slideLayout11.xml" Id="Rc04d9546cb5249e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39E157E-653D-40B8-A6AE-92A5BF6464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FD83326-E654-4C76-9814-E80F7D2930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8CFC981-3DD0-4178-ACD1-01BF7A7955D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57441B6-CBF3-461F-A2EA-93D11E33125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3861B7-49CC-44C1-B682-91E47E3868A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3c664df96142bd"/>
    <p:sldLayoutId xmlns:r="http://schemas.openxmlformats.org/officeDocument/2006/relationships" id="2147483650" r:id="Rf875455808e7422f"/>
    <p:sldLayoutId xmlns:r="http://schemas.openxmlformats.org/officeDocument/2006/relationships" id="2147483651" r:id="R6db3a634b38247cc"/>
    <p:sldLayoutId xmlns:r="http://schemas.openxmlformats.org/officeDocument/2006/relationships" id="2147483652" r:id="Rad937c8a00004b57"/>
    <p:sldLayoutId xmlns:r="http://schemas.openxmlformats.org/officeDocument/2006/relationships" id="2147483653" r:id="R07e65a4e2221410d"/>
    <p:sldLayoutId xmlns:r="http://schemas.openxmlformats.org/officeDocument/2006/relationships" id="2147483654" r:id="R1b99b841a95c4d0e"/>
    <p:sldLayoutId xmlns:r="http://schemas.openxmlformats.org/officeDocument/2006/relationships" id="2147483655" r:id="R9e1f5663d3ae4c76"/>
    <p:sldLayoutId xmlns:r="http://schemas.openxmlformats.org/officeDocument/2006/relationships" id="2147483656" r:id="R757af7e4b1184626"/>
    <p:sldLayoutId xmlns:r="http://schemas.openxmlformats.org/officeDocument/2006/relationships" id="2147483657" r:id="R5a8373bc13464f36"/>
    <p:sldLayoutId xmlns:r="http://schemas.openxmlformats.org/officeDocument/2006/relationships" id="2147483658" r:id="R7ab1d9b984fa4674"/>
    <p:sldLayoutId xmlns:r="http://schemas.openxmlformats.org/officeDocument/2006/relationships" id="2147483659" r:id="Rc04d9546cb5249e4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34b229364b84f54" /><Relationship Type="http://schemas.openxmlformats.org/officeDocument/2006/relationships/notesSlide" Target="/ppt/notesSlides/notesSlide1.xml" Id="R93d446f9d2444c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efc1741f19d4de0" /><Relationship Type="http://schemas.openxmlformats.org/officeDocument/2006/relationships/notesSlide" Target="/ppt/notesSlides/notesSlide2.xml" Id="R526ec3527fa444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e3b48524acb4331" /><Relationship Type="http://schemas.openxmlformats.org/officeDocument/2006/relationships/notesSlide" Target="/ppt/notesSlides/notesSlide3.xml" Id="Re926af9c08de49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9dc278dc7e74f60" /><Relationship Type="http://schemas.openxmlformats.org/officeDocument/2006/relationships/image" Target="/ppt/media/image.png" Id="R4f6bbd9783984ba0" /><Relationship Type="http://schemas.openxmlformats.org/officeDocument/2006/relationships/image" Target="/ppt/media/image2.png" Id="R9efa78652e964e87" /><Relationship Type="http://schemas.openxmlformats.org/officeDocument/2006/relationships/notesSlide" Target="/ppt/notesSlides/notesSlide4.xml" Id="Rb61c470ac6764e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fd46f03f0d84b52" /><Relationship Type="http://schemas.openxmlformats.org/officeDocument/2006/relationships/image" Target="/ppt/media/image3.png" Id="Rb318d805adda4a41" /><Relationship Type="http://schemas.openxmlformats.org/officeDocument/2006/relationships/notesSlide" Target="/ppt/notesSlides/notesSlide5.xml" Id="Rf7aef968d3aa41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468f1075d164567" /><Relationship Type="http://schemas.openxmlformats.org/officeDocument/2006/relationships/notesSlide" Target="/ppt/notesSlides/notesSlide6.xml" Id="R1dedd68e59414b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96457f2e6e4434d" /><Relationship Type="http://schemas.openxmlformats.org/officeDocument/2006/relationships/image" Target="/ppt/media/image4.png" Id="Ra306409fd71e4082" /><Relationship Type="http://schemas.openxmlformats.org/officeDocument/2006/relationships/notesSlide" Target="/ppt/notesSlides/notesSlide7.xml" Id="R40ace2ca615943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dcce9e6e17d4a30" /><Relationship Type="http://schemas.openxmlformats.org/officeDocument/2006/relationships/image" Target="/ppt/media/image5.png" Id="R734bf4d54c3b4161" /><Relationship Type="http://schemas.openxmlformats.org/officeDocument/2006/relationships/image" Target="/ppt/media/image6.png" Id="R8dddaa5cad7c4dba" /><Relationship Type="http://schemas.openxmlformats.org/officeDocument/2006/relationships/notesSlide" Target="/ppt/notesSlides/notesSlide8.xml" Id="R5f2d5e779a984f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d8bd0bb41ee49d7" /><Relationship Type="http://schemas.openxmlformats.org/officeDocument/2006/relationships/notesSlide" Target="/ppt/notesSlides/notesSlide9.xml" Id="Rf00a5365d6db4a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5b7bd18eca540c4" /><Relationship Type="http://schemas.openxmlformats.org/officeDocument/2006/relationships/hyperlink" Target="https://github.com/vvsleepy/caredesk.git" TargetMode="External" Id="R9b69dffb33694638" /><Relationship Type="http://schemas.openxmlformats.org/officeDocument/2006/relationships/notesSlide" Target="/ppt/notesSlides/notesSlide10.xml" Id="R7a22845821084681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8DFE7"/>
            </a:gs>
            <a:gs pos="100000">
              <a:srgbClr val="FFF0E4"/>
            </a:gs>
          </a:gsLst>
          <a:lin ang="15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70BD98-6F9C-4D55-AD9B-0244EB13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6205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00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00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00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00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00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00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00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00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00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pPr>
            <a:r>
              <a:rPr>
                <a:latin typeface="DejaVu Sans"/>
                <a:ea typeface="DejaVu Sans"/>
                <a:cs typeface="DejaVu Sans"/>
              </a:rPr>
              <a:t>⋆˚</a:t>
            </a:r>
            <a:r>
              <a:rPr>
                <a:latin typeface="CareDeskTibetan"/>
                <a:ea typeface="CareDeskTibetan"/>
                <a:cs typeface="CareDeskTibetan"/>
              </a:rPr>
              <a:t>࿔</a:t>
            </a:r>
          </a:p>
        </p:txBody>
      </p:sp>
      <p:sp>
        <p:nvSpPr>
          <p:cNvPr id="2" name="DEVOPS CAPSTONE PRESENTATION">
            <a:extLst xmlns:a="http://schemas.openxmlformats.org/drawingml/2006/main">
              <a:ext uri="{FF2B5EF4-FFF2-40B4-BE49-F238E27FC236}">
                <a16:creationId xmlns:a16="http://schemas.microsoft.com/office/drawing/2014/main" id="{3FF75B7B-C4E7-4AB7-A83E-3FF5B39C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62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275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275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275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275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275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275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275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275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275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24B69"/>
                </a:solidFill>
                <a:latin typeface="DejaVu Sans"/>
                <a:ea typeface="DejaVu Sans"/>
                <a:cs typeface="DejaVu Sans"/>
              </a:rPr>
              <a:t>DEVOPS CAPSTONE PRESENTATION</a:t>
            </a:r>
          </a:p>
        </p:txBody>
      </p:sp>
      <p:sp>
        <p:nvSpPr>
          <p:cNvPr id="3" name="CareDesk">
            <a:extLst xmlns:a="http://schemas.openxmlformats.org/drawingml/2006/main">
              <a:ext uri="{FF2B5EF4-FFF2-40B4-BE49-F238E27FC236}">
                <a16:creationId xmlns:a16="http://schemas.microsoft.com/office/drawing/2014/main" id="{BB7AEC12-8255-4BFC-9F82-77362E3C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146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defPPr>
            <a:lvl1pPr algn="ctr">
              <a:defRPr sz="6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1pPr>
            <a:lvl2pPr algn="ctr">
              <a:defRPr sz="6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2pPr>
            <a:lvl3pPr algn="ctr">
              <a:defRPr sz="6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3pPr>
            <a:lvl4pPr algn="ctr">
              <a:defRPr sz="6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4pPr>
            <a:lvl5pPr algn="ctr">
              <a:defRPr sz="6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5pPr>
            <a:lvl6pPr algn="ctr">
              <a:defRPr sz="6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6pPr>
            <a:lvl7pPr algn="ctr">
              <a:defRPr sz="6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7pPr>
            <a:lvl8pPr algn="ctr">
              <a:defRPr sz="6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8pPr>
            <a:lvl9pPr algn="ctr">
              <a:defRPr sz="6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ctr">
              <a:defRPr sz="6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pPr>
            <a:r>
              <a:rPr sz="6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rPr>
              <a:t>CareDesk</a:t>
            </a:r>
          </a:p>
        </p:txBody>
      </p:sp>
      <p:sp>
        <p:nvSpPr>
          <p:cNvPr id="4" name="Automated Cloud Delivery Platform">
            <a:extLst xmlns:a="http://schemas.openxmlformats.org/drawingml/2006/main">
              <a:ext uri="{FF2B5EF4-FFF2-40B4-BE49-F238E27FC236}">
                <a16:creationId xmlns:a16="http://schemas.microsoft.com/office/drawing/2014/main" id="{DCCF5463-D80E-4A26-B700-C03AC799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2427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80646D"/>
                </a:solidFill>
                <a:latin typeface="DejaVu Sans"/>
                <a:ea typeface="DejaVu Sans"/>
                <a:cs typeface="DejaVu Sans"/>
              </a:rPr>
              <a:t>Automated Cloud Delivery Platform</a:t>
            </a:r>
          </a:p>
        </p:txBody>
      </p:sp>
      <p:sp>
        <p:nvSpPr>
          <p:cNvPr id="5" name="Ankita Tripathi">
            <a:extLst xmlns:a="http://schemas.openxmlformats.org/drawingml/2006/main">
              <a:ext uri="{FF2B5EF4-FFF2-40B4-BE49-F238E27FC236}">
                <a16:creationId xmlns:a16="http://schemas.microsoft.com/office/drawing/2014/main" id="{66D669BB-91A7-4CB2-AC53-3903ED26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48225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75" b="1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75" b="1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75" b="1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75" b="1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75" b="1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75" b="1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75" b="1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75" b="1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75" b="1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503740"/>
                </a:solidFill>
                <a:latin typeface="DejaVu Sans"/>
                <a:ea typeface="DejaVu Sans"/>
                <a:cs typeface="DejaVu Sans"/>
              </a:rPr>
              <a:t>Ankita Tripathi</a:t>
            </a:r>
          </a:p>
        </p:txBody>
      </p:sp>
      <p:sp>
        <p:nvSpPr>
          <p:cNvPr id="6" name="ankita.24bcs10062">
            <a:extLst xmlns:a="http://schemas.openxmlformats.org/drawingml/2006/main">
              <a:ext uri="{FF2B5EF4-FFF2-40B4-BE49-F238E27FC236}">
                <a16:creationId xmlns:a16="http://schemas.microsoft.com/office/drawing/2014/main" id="{819C185E-17C7-4320-82DE-AB3D2213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67325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5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5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5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5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5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5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5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5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5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80646D"/>
                </a:solidFill>
                <a:latin typeface="DejaVu Sans"/>
                <a:ea typeface="DejaVu Sans"/>
                <a:cs typeface="DejaVu Sans"/>
              </a:rPr>
              <a:t>ankita.24bcs10062</a:t>
            </a:r>
          </a:p>
        </p:txBody>
      </p:sp>
    </p:spTree>
    <p:extLst>
      <p:ext uri="{BB962C8B-B14F-4D97-AF65-F5344CB8AC3E}">
        <p14:creationId xmlns:p14="http://schemas.microsoft.com/office/powerpoint/2010/main" val="2023866504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AF7"/>
            </a:gs>
            <a:gs pos="100000">
              <a:srgbClr val="FFF7F2"/>
            </a:gs>
          </a:gsLst>
          <a:lin ang="15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2994ED89-D1E7-4E56-AD1E-EB97CB70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5276850" cy="2647950"/>
          </a:xfrm>
          <a:prstGeom xmlns:a="http://schemas.openxmlformats.org/drawingml/2006/main" prst="roundRect">
            <a:avLst>
              <a:gd name="adj" fmla="val 8633"/>
            </a:avLst>
          </a:prstGeom>
          <a:solidFill xmlns:a="http://schemas.openxmlformats.org/drawingml/2006/main">
            <a:srgbClr val="F9E7E9"/>
          </a:solidFill>
          <a:ln xmlns:a="http://schemas.openxmlformats.org/drawingml/2006/main" w="9525">
            <a:solidFill>
              <a:srgbClr val="EEDCE0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323DB518-0D99-4051-9CC9-69B8F83B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62250"/>
            <a:ext cx="5276850" cy="2647950"/>
          </a:xfrm>
          <a:prstGeom xmlns:a="http://schemas.openxmlformats.org/drawingml/2006/main" prst="roundRect">
            <a:avLst>
              <a:gd name="adj" fmla="val 8633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9525">
            <a:solidFill>
              <a:srgbClr val="EEDCE0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828CF32-441A-43F0-B32E-218B8633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63721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buNone/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 i="0" u="none">
                <a:solidFill>
                  <a:srgbClr val="503740"/>
                </a:solidFill>
                <a:latin typeface="DejaVu Serif"/>
                <a:ea typeface="DejaVu Serif"/>
                <a:cs typeface="DejaVu Serif"/>
              </a:rPr>
              <a:t>The Real-World Problem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AED5312-0D1B-472B-B96B-1FE9BCB3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89902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 u="none">
                <a:solidFill>
                  <a:srgbClr val="80646D"/>
                </a:solidFill>
                <a:latin typeface="DejaVu Sans"/>
                <a:ea typeface="DejaVu Sans"/>
                <a:cs typeface="DejaVu Sans"/>
              </a:rPr>
              <a:t>Why traditional clinic booking systems fail.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4ED06D2-2818-41DC-80C8-A1A407A2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2416175" cy="354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232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232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232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232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232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232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232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232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232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pPr>
            <a:r>
              <a:rPr sz="2325" b="0" i="0" u="none">
                <a:solidFill>
                  <a:srgbClr val="503740"/>
                </a:solidFill>
                <a:latin typeface="DejaVu Serif"/>
                <a:ea typeface="DejaVu Serif"/>
                <a:cs typeface="DejaVu Serif"/>
              </a:rPr>
              <a:t>Fragile Updates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BB6EB9F-031D-456C-9D5D-B625F64B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71975"/>
            <a:ext cx="45339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 u="none">
                <a:solidFill>
                  <a:srgbClr val="80646D"/>
                </a:solidFill>
                <a:latin typeface="DejaVu Sans"/>
                <a:ea typeface="DejaVu Sans"/>
                <a:cs typeface="DejaVu Sans"/>
              </a:rPr>
              <a:t>Manual deployments cause costly downtime.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2FA4557-BAB3-4D15-B3B7-E83C8096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14750"/>
            <a:ext cx="2806700" cy="354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232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232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232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232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232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232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232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232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232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pPr>
            <a:r>
              <a:rPr sz="2325" b="0" i="0" u="none">
                <a:solidFill>
                  <a:srgbClr val="503740"/>
                </a:solidFill>
                <a:latin typeface="DejaVu Serif"/>
                <a:ea typeface="DejaVu Serif"/>
                <a:cs typeface="DejaVu Serif"/>
              </a:rPr>
              <a:t>Inconsistent Setup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3CA88A3-7073-4901-A53F-236B6A1B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71975"/>
            <a:ext cx="4519613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 u="none">
                <a:solidFill>
                  <a:srgbClr val="80646D"/>
                </a:solidFill>
                <a:latin typeface="DejaVu Sans"/>
                <a:ea typeface="DejaVu Sans"/>
                <a:cs typeface="DejaVu Sans"/>
              </a:rPr>
              <a:t>Code breaks across different machines.</a:t>
            </a:r>
          </a:p>
        </p:txBody>
      </p:sp>
      <p:sp>
        <p:nvSpPr>
          <p:cNvPr id="12" name="CareDesk">
            <a:extLst xmlns:a="http://schemas.openxmlformats.org/drawingml/2006/main">
              <a:ext uri="{FF2B5EF4-FFF2-40B4-BE49-F238E27FC236}">
                <a16:creationId xmlns:a16="http://schemas.microsoft.com/office/drawing/2014/main" id="{A38C591A-4E4A-4774-A084-D0899220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pPr>
            <a:r>
              <a: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rPr>
              <a:t>CareDesk</a:t>
            </a:r>
          </a:p>
        </p:txBody>
      </p:sp>
      <p:sp>
        <p:nvSpPr>
          <p:cNvPr id="13" name="02">
            <a:extLst xmlns:a="http://schemas.openxmlformats.org/drawingml/2006/main">
              <a:ext uri="{FF2B5EF4-FFF2-40B4-BE49-F238E27FC236}">
                <a16:creationId xmlns:a16="http://schemas.microsoft.com/office/drawing/2014/main" id="{2F9547FD-CD30-4EAE-8C5F-3B55290B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674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4" name="01">
            <a:extLst xmlns:a="http://schemas.openxmlformats.org/drawingml/2006/main">
              <a:ext uri="{FF2B5EF4-FFF2-40B4-BE49-F238E27FC236}">
                <a16:creationId xmlns:a16="http://schemas.microsoft.com/office/drawing/2014/main" id="{0979E586-414A-4436-AD6B-E7A86138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pPr>
            <a:r>
              <a: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rPr>
              <a:t>01</a:t>
            </a:r>
          </a:p>
        </p:txBody>
      </p:sp>
      <p:sp>
        <p:nvSpPr>
          <p:cNvPr id="15" name="02">
            <a:extLst xmlns:a="http://schemas.openxmlformats.org/drawingml/2006/main">
              <a:ext uri="{FF2B5EF4-FFF2-40B4-BE49-F238E27FC236}">
                <a16:creationId xmlns:a16="http://schemas.microsoft.com/office/drawing/2014/main" id="{7FB644C2-5507-40DD-BFF2-5454342C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480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pPr>
            <a:r>
              <a: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30818456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AF7"/>
            </a:gs>
            <a:gs pos="100000">
              <a:srgbClr val="FFF7F2"/>
            </a:gs>
          </a:gsLst>
          <a:lin ang="15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7C1E8AE1-604E-44E0-845B-3944D9F7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3448050" cy="2762250"/>
          </a:xfrm>
          <a:prstGeom xmlns:a="http://schemas.openxmlformats.org/drawingml/2006/main" prst="roundRect">
            <a:avLst>
              <a:gd name="adj" fmla="val 7586"/>
            </a:avLst>
          </a:prstGeom>
          <a:solidFill xmlns:a="http://schemas.openxmlformats.org/drawingml/2006/main">
            <a:srgbClr val="F9E7E9"/>
          </a:solidFill>
          <a:ln xmlns:a="http://schemas.openxmlformats.org/drawingml/2006/main" w="9525">
            <a:solidFill>
              <a:srgbClr val="EEDCE0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AC2ACDA3-8977-4283-AB6F-AE1264D9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667000"/>
            <a:ext cx="3448050" cy="2762250"/>
          </a:xfrm>
          <a:prstGeom xmlns:a="http://schemas.openxmlformats.org/drawingml/2006/main" prst="roundRect">
            <a:avLst>
              <a:gd name="adj" fmla="val 7586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9525">
            <a:solidFill>
              <a:srgbClr val="EEDCE0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F6B0A060-B41A-4693-AE25-41BC34CE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67000"/>
            <a:ext cx="3448050" cy="2762250"/>
          </a:xfrm>
          <a:prstGeom xmlns:a="http://schemas.openxmlformats.org/drawingml/2006/main" prst="roundRect">
            <a:avLst>
              <a:gd name="adj" fmla="val 7586"/>
            </a:avLst>
          </a:prstGeom>
          <a:solidFill xmlns:a="http://schemas.openxmlformats.org/drawingml/2006/main">
            <a:srgbClr val="F0EAFA"/>
          </a:solidFill>
          <a:ln xmlns:a="http://schemas.openxmlformats.org/drawingml/2006/main" w="9525">
            <a:solidFill>
              <a:srgbClr val="EEDCE0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330DD79-923F-4F37-8635-94AAC0EB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24656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buNone/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 i="0" u="none">
                <a:solidFill>
                  <a:srgbClr val="503740"/>
                </a:solidFill>
                <a:latin typeface="DejaVu Serif"/>
                <a:ea typeface="DejaVu Serif"/>
                <a:cs typeface="DejaVu Serif"/>
              </a:rPr>
              <a:t>The Mental Model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4E018CC-20F4-4485-A4BC-E9A3EDF0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1039812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2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2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2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2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2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2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2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2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2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pPr>
            <a:r>
              <a:rPr sz="2250" b="0" i="0" u="none">
                <a:solidFill>
                  <a:srgbClr val="503740"/>
                </a:solidFill>
                <a:latin typeface="DejaVu Serif"/>
                <a:ea typeface="DejaVu Serif"/>
                <a:cs typeface="DejaVu Serif"/>
              </a:rPr>
              <a:t>Docker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51FA8D0-3D2C-4DEA-A322-1A9683F5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2914650" cy="525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 u="none">
                <a:solidFill>
                  <a:srgbClr val="80646D"/>
                </a:solidFill>
                <a:latin typeface="DejaVu Sans"/>
                <a:ea typeface="DejaVu Sans"/>
                <a:cs typeface="DejaVu Sans"/>
              </a:rPr>
              <a:t>Standardized shipping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 u="none">
                <a:solidFill>
                  <a:srgbClr val="80646D"/>
                </a:solidFill>
                <a:latin typeface="DejaVu Sans"/>
                <a:ea typeface="DejaVu Sans"/>
                <a:cs typeface="DejaVu Sans"/>
              </a:rPr>
              <a:t>containers.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FE862E3-A6A9-4FD7-8C2B-A6B3A3D8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638550"/>
            <a:ext cx="1057275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2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2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2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2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2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2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2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2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2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pPr>
            <a:r>
              <a:rPr sz="2250" b="0" i="0" u="none">
                <a:solidFill>
                  <a:srgbClr val="503740"/>
                </a:solidFill>
                <a:latin typeface="DejaVu Serif"/>
                <a:ea typeface="DejaVu Serif"/>
                <a:cs typeface="DejaVu Serif"/>
              </a:rPr>
              <a:t>CI / CD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8A72AF5-F572-487B-A05D-B5AB08D3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324350"/>
            <a:ext cx="2159000" cy="525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 u="none">
                <a:solidFill>
                  <a:srgbClr val="80646D"/>
                </a:solidFill>
                <a:latin typeface="DejaVu Sans"/>
                <a:ea typeface="DejaVu Sans"/>
                <a:cs typeface="DejaVu Sans"/>
              </a:rPr>
              <a:t>Automated security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 u="none">
                <a:solidFill>
                  <a:srgbClr val="80646D"/>
                </a:solidFill>
                <a:latin typeface="DejaVu Sans"/>
                <a:ea typeface="DejaVu Sans"/>
                <a:cs typeface="DejaVu Sans"/>
              </a:rPr>
              <a:t>checkpoint.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6DC2505-F14C-4865-8AF8-95771F26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38550"/>
            <a:ext cx="1665287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2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2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2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2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2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2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2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2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2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pPr>
            <a:r>
              <a:rPr sz="2250" b="0" i="0" u="none">
                <a:solidFill>
                  <a:srgbClr val="503740"/>
                </a:solidFill>
                <a:latin typeface="DejaVu Serif"/>
                <a:ea typeface="DejaVu Serif"/>
                <a:cs typeface="DejaVu Serif"/>
              </a:rPr>
              <a:t>Kubernetes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4F9265B-6752-438A-8ABE-71C85AC4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24350"/>
            <a:ext cx="2173288" cy="5257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 u="none">
                <a:solidFill>
                  <a:srgbClr val="80646D"/>
                </a:solidFill>
                <a:latin typeface="DejaVu Sans"/>
                <a:ea typeface="DejaVu Sans"/>
                <a:cs typeface="DejaVu Sans"/>
              </a:rPr>
              <a:t>Intelligent air traffic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 u="none">
                <a:solidFill>
                  <a:srgbClr val="80646D"/>
                </a:solidFill>
                <a:latin typeface="DejaVu Sans"/>
                <a:ea typeface="DejaVu Sans"/>
                <a:cs typeface="DejaVu Sans"/>
              </a:rPr>
              <a:t>controller.</a:t>
            </a:r>
          </a:p>
        </p:txBody>
      </p:sp>
      <p:sp>
        <p:nvSpPr>
          <p:cNvPr id="15" name="CareDesk">
            <a:extLst xmlns:a="http://schemas.openxmlformats.org/drawingml/2006/main">
              <a:ext uri="{FF2B5EF4-FFF2-40B4-BE49-F238E27FC236}">
                <a16:creationId xmlns:a16="http://schemas.microsoft.com/office/drawing/2014/main" id="{124098CB-95AE-4D90-A9E9-92F927BC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pPr>
            <a:r>
              <a: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rPr>
              <a:t>CareDesk</a:t>
            </a:r>
          </a:p>
        </p:txBody>
      </p:sp>
      <p:sp>
        <p:nvSpPr>
          <p:cNvPr id="16" name="03">
            <a:extLst xmlns:a="http://schemas.openxmlformats.org/drawingml/2006/main">
              <a:ext uri="{FF2B5EF4-FFF2-40B4-BE49-F238E27FC236}">
                <a16:creationId xmlns:a16="http://schemas.microsoft.com/office/drawing/2014/main" id="{9AFC4552-5687-4A35-9AEF-823C15A6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674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7" name="01">
            <a:extLst xmlns:a="http://schemas.openxmlformats.org/drawingml/2006/main">
              <a:ext uri="{FF2B5EF4-FFF2-40B4-BE49-F238E27FC236}">
                <a16:creationId xmlns:a16="http://schemas.microsoft.com/office/drawing/2014/main" id="{B661288A-2343-42FB-BF08-1C195710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pPr>
            <a:r>
              <a: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rPr>
              <a:t>01</a:t>
            </a:r>
          </a:p>
        </p:txBody>
      </p:sp>
      <p:sp>
        <p:nvSpPr>
          <p:cNvPr id="18" name="02">
            <a:extLst xmlns:a="http://schemas.openxmlformats.org/drawingml/2006/main">
              <a:ext uri="{FF2B5EF4-FFF2-40B4-BE49-F238E27FC236}">
                <a16:creationId xmlns:a16="http://schemas.microsoft.com/office/drawing/2014/main" id="{FCC0E369-092F-488D-BF7E-87F608D9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93370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pPr>
            <a:r>
              <a: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rPr>
              <a:t>02</a:t>
            </a:r>
          </a:p>
        </p:txBody>
      </p:sp>
      <p:sp>
        <p:nvSpPr>
          <p:cNvPr id="19" name="03">
            <a:extLst xmlns:a="http://schemas.openxmlformats.org/drawingml/2006/main">
              <a:ext uri="{FF2B5EF4-FFF2-40B4-BE49-F238E27FC236}">
                <a16:creationId xmlns:a16="http://schemas.microsoft.com/office/drawing/2014/main" id="{16205BCA-F67C-467C-BECA-5DF4B4C1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3370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pPr>
            <a:r>
              <a:rPr sz="225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99706285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AF7"/>
            </a:gs>
            <a:gs pos="100000">
              <a:srgbClr val="FFF7F2"/>
            </a:gs>
          </a:gsLst>
          <a:lin ang="15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A4033B1-BB8A-4ADC-9880-04C8FAAB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40005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lnSpc>
                <a:spcPts val="4320"/>
              </a:lnSpc>
              <a:buNone/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pPr>
            <a:r>
              <a:rPr sz="3450" b="0" i="0" u="none">
                <a:solidFill>
                  <a:srgbClr val="503740"/>
                </a:solidFill>
                <a:latin typeface="DejaVu Serif"/>
                <a:ea typeface="DejaVu Serif"/>
                <a:cs typeface="DejaVu Serif"/>
              </a:rPr>
              <a:t>Local</a:t>
            </a:r>
          </a:p>
          <a:p xmlns:a="http://schemas.openxmlformats.org/drawingml/2006/main">
            <a:pPr algn="l">
              <a:lnSpc>
                <a:spcPts val="4320"/>
              </a:lnSpc>
              <a:buNone/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pPr>
            <a:r>
              <a:rPr sz="3450" b="0" i="0" u="none">
                <a:solidFill>
                  <a:srgbClr val="503740"/>
                </a:solidFill>
                <a:latin typeface="DejaVu Serif"/>
                <a:ea typeface="DejaVu Serif"/>
                <a:cs typeface="DejaVu Serif"/>
              </a:rPr>
              <a:t>Development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7EE4C5A-1C51-4701-AE6F-4B006CB1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05100"/>
            <a:ext cx="367665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lnSpc>
                <a:spcPts val="2520"/>
              </a:lnSpc>
              <a:buNone/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 u="none">
                <a:solidFill>
                  <a:srgbClr val="503740"/>
                </a:solidFill>
                <a:latin typeface="DejaVu Sans"/>
                <a:ea typeface="DejaVu Sans"/>
                <a:cs typeface="DejaVu Sans"/>
              </a:rPr>
              <a:t>Spins up Postgres, FastAPI &amp; React.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B272FA-5013-44D8-80CA-96175124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05225"/>
            <a:ext cx="367665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lnSpc>
                <a:spcPts val="2520"/>
              </a:lnSpc>
              <a:buNone/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 u="none">
                <a:solidFill>
                  <a:srgbClr val="503740"/>
                </a:solidFill>
                <a:latin typeface="DejaVu Sans"/>
                <a:ea typeface="DejaVu Sans"/>
                <a:cs typeface="DejaVu Sans"/>
              </a:rPr>
              <a:t>Identical environment across all machines.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5E87670-3F3B-4FB0-9742-33BF79EB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05350"/>
            <a:ext cx="367665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lnSpc>
                <a:spcPts val="2520"/>
              </a:lnSpc>
              <a:buNone/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 u="none">
                <a:solidFill>
                  <a:srgbClr val="503740"/>
                </a:solidFill>
                <a:latin typeface="DejaVu Sans"/>
                <a:ea typeface="DejaVu Sans"/>
                <a:cs typeface="DejaVu Sans"/>
              </a:rPr>
              <a:t>Managed entirely via docker-compose.yml.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456351D-FEFC-4079-980C-4FE10901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20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lnSpc>
                <a:spcPts val="2520"/>
              </a:lnSpc>
              <a:buNone/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i="0" u="none">
                <a:solidFill>
                  <a:srgbClr val="A24B69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F349A61-91D4-41F9-AC84-77ECB3AE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20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lnSpc>
                <a:spcPts val="2520"/>
              </a:lnSpc>
              <a:buNone/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i="0" u="none">
                <a:solidFill>
                  <a:srgbClr val="A24B6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2A795DC-027C-4426-B639-CAC280C3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20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lnSpc>
                <a:spcPts val="2520"/>
              </a:lnSpc>
              <a:buNone/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i="0" u="none">
                <a:solidFill>
                  <a:srgbClr val="A24B69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CareDesk">
            <a:extLst xmlns:a="http://schemas.openxmlformats.org/drawingml/2006/main">
              <a:ext uri="{FF2B5EF4-FFF2-40B4-BE49-F238E27FC236}">
                <a16:creationId xmlns:a16="http://schemas.microsoft.com/office/drawing/2014/main" id="{99B8E8A1-0E1E-40CE-9A20-0EBE6A00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pPr>
            <a:r>
              <a: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rPr>
              <a:t>CareDesk</a:t>
            </a:r>
          </a:p>
        </p:txBody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4BB3DE35-5866-4717-9932-52CD9DB8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674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147257-3ED1-4B3D-B005-49B280F968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6bbd9783984ba0"/>
          <a:stretch xmlns:a="http://schemas.openxmlformats.org/drawingml/2006/main"/>
        </p:blipFill>
        <p:spPr>
          <a:xfrm xmlns:a="http://schemas.openxmlformats.org/drawingml/2006/main">
            <a:off x="5357498" y="1428750"/>
            <a:ext cx="6144253" cy="3638550"/>
          </a:xfrm>
          <a:prstGeom xmlns:a="http://schemas.openxmlformats.org/drawingml/2006/main" prst="rect">
            <a:avLst/>
          </a:prstGeom>
        </p:spPr>
      </p:pic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78205A-54F9-4374-9712-2EB771B500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fa78652e964e87"/>
          <a:stretch xmlns:a="http://schemas.openxmlformats.org/drawingml/2006/main"/>
        </p:blipFill>
        <p:spPr>
          <a:xfrm xmlns:a="http://schemas.openxmlformats.org/drawingml/2006/main">
            <a:off x="5566791" y="5181600"/>
            <a:ext cx="5725668" cy="990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938622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AF7"/>
            </a:gs>
            <a:gs pos="100000">
              <a:srgbClr val="FFF7F2"/>
            </a:gs>
          </a:gsLst>
          <a:lin ang="15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53D29AD-71E3-4D3B-A39F-1325A10D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952500"/>
            <a:ext cx="37909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lnSpc>
                <a:spcPts val="4320"/>
              </a:lnSpc>
              <a:buNone/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pPr>
            <a:r>
              <a:rPr sz="3450" b="0" i="0" u="none">
                <a:solidFill>
                  <a:srgbClr val="503740"/>
                </a:solidFill>
                <a:latin typeface="DejaVu Serif"/>
                <a:ea typeface="DejaVu Serif"/>
                <a:cs typeface="DejaVu Serif"/>
              </a:rPr>
              <a:t>Structured</a:t>
            </a:r>
          </a:p>
          <a:p xmlns:a="http://schemas.openxmlformats.org/drawingml/2006/main">
            <a:pPr algn="l">
              <a:lnSpc>
                <a:spcPts val="4320"/>
              </a:lnSpc>
              <a:buNone/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pPr>
            <a:r>
              <a:rPr sz="3450" b="0" i="0" u="none">
                <a:solidFill>
                  <a:srgbClr val="503740"/>
                </a:solidFill>
                <a:latin typeface="DejaVu Serif"/>
                <a:ea typeface="DejaVu Serif"/>
                <a:cs typeface="DejaVu Serif"/>
              </a:rPr>
              <a:t>Codebase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EFED6C-A001-4786-87B9-D61CBAE4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05100"/>
            <a:ext cx="34671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lnSpc>
                <a:spcPts val="2520"/>
              </a:lnSpc>
              <a:buNone/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 u="none">
                <a:solidFill>
                  <a:srgbClr val="503740"/>
                </a:solidFill>
                <a:latin typeface="DejaVu Sans"/>
                <a:ea typeface="DejaVu Sans"/>
                <a:cs typeface="DejaVu Sans"/>
              </a:rPr>
              <a:t>19 progressive, documented commits.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379F18B-A381-4BB6-A0ED-49C2F88D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05225"/>
            <a:ext cx="34671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lnSpc>
                <a:spcPts val="2520"/>
              </a:lnSpc>
              <a:buNone/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 u="none">
                <a:solidFill>
                  <a:srgbClr val="503740"/>
                </a:solidFill>
                <a:latin typeface="DejaVu Sans"/>
                <a:ea typeface="DejaVu Sans"/>
                <a:cs typeface="DejaVu Sans"/>
              </a:rPr>
              <a:t>Strict .gitignore blocks secret leaks.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E4F0DC1-968E-43B8-81F4-710ED19F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05350"/>
            <a:ext cx="34671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lnSpc>
                <a:spcPts val="2520"/>
              </a:lnSpc>
              <a:buNone/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 u="none">
                <a:solidFill>
                  <a:srgbClr val="503740"/>
                </a:solidFill>
                <a:latin typeface="DejaVu Sans"/>
                <a:ea typeface="DejaVu Sans"/>
                <a:cs typeface="DejaVu Sans"/>
              </a:rPr>
              <a:t>Cleanly split into backend, frontend &amp; IaC.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E8B792E-FF30-42DC-8174-2AB06D1C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43200"/>
            <a:ext cx="20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lnSpc>
                <a:spcPts val="2520"/>
              </a:lnSpc>
              <a:buNone/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i="0" u="none">
                <a:solidFill>
                  <a:srgbClr val="A24B69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CB7C7AF-D274-4511-902E-A3C46FF5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43325"/>
            <a:ext cx="20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lnSpc>
                <a:spcPts val="2520"/>
              </a:lnSpc>
              <a:buNone/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i="0" u="none">
                <a:solidFill>
                  <a:srgbClr val="A24B6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0FEE3C6-5231-46A5-AD15-D8CDD81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43450"/>
            <a:ext cx="20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lnSpc>
                <a:spcPts val="2520"/>
              </a:lnSpc>
              <a:buNone/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i="0" u="none">
                <a:solidFill>
                  <a:srgbClr val="A24B69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CareDesk">
            <a:extLst xmlns:a="http://schemas.openxmlformats.org/drawingml/2006/main">
              <a:ext uri="{FF2B5EF4-FFF2-40B4-BE49-F238E27FC236}">
                <a16:creationId xmlns:a16="http://schemas.microsoft.com/office/drawing/2014/main" id="{46417486-1FD7-4B70-A68F-A6B8E279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pPr>
            <a:r>
              <a: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rPr>
              <a:t>CareDesk</a:t>
            </a:r>
          </a:p>
        </p:txBody>
      </p:sp>
      <p:sp>
        <p:nvSpPr>
          <p:cNvPr id="12" name="05">
            <a:extLst xmlns:a="http://schemas.openxmlformats.org/drawingml/2006/main">
              <a:ext uri="{FF2B5EF4-FFF2-40B4-BE49-F238E27FC236}">
                <a16:creationId xmlns:a16="http://schemas.microsoft.com/office/drawing/2014/main" id="{944023B1-8949-40C1-A131-B4B0DDFC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674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F139C4-8320-4464-805A-BC12D3DECB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18d805adda4a41"/>
          <a:stretch xmlns:a="http://schemas.openxmlformats.org/drawingml/2006/main"/>
        </p:blipFill>
        <p:spPr>
          <a:xfrm xmlns:a="http://schemas.openxmlformats.org/drawingml/2006/main">
            <a:off x="685800" y="2602104"/>
            <a:ext cx="6572250" cy="1320418"/>
          </a:xfrm>
          <a:prstGeom xmlns:a="http://schemas.openxmlformats.org/drawingml/2006/main" prst="rect">
            <a:avLst/>
          </a:prstGeom>
        </p:spPr>
      </p:pic>
      <p:sp>
        <p:nvSpPr>
          <p:cNvPr id="14" name="Git commit history">
            <a:extLst xmlns:a="http://schemas.openxmlformats.org/drawingml/2006/main">
              <a:ext uri="{FF2B5EF4-FFF2-40B4-BE49-F238E27FC236}">
                <a16:creationId xmlns:a16="http://schemas.microsoft.com/office/drawing/2014/main" id="{8B4BD54B-51D5-46A2-B18E-E64E65C9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4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4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4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4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4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4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4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4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4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80646D"/>
                </a:solidFill>
                <a:latin typeface="DejaVu Sans"/>
                <a:ea typeface="DejaVu Sans"/>
                <a:cs typeface="DejaVu Sans"/>
              </a:rPr>
              <a:t>Git commit history</a:t>
            </a:r>
          </a:p>
        </p:txBody>
      </p:sp>
    </p:spTree>
    <p:extLst>
      <p:ext uri="{BB962C8B-B14F-4D97-AF65-F5344CB8AC3E}">
        <p14:creationId xmlns:p14="http://schemas.microsoft.com/office/powerpoint/2010/main" val="1084601507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AF7"/>
            </a:gs>
            <a:gs pos="100000">
              <a:srgbClr val="FFF7F2"/>
            </a:gs>
          </a:gsLst>
          <a:lin ang="15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D0D4A2A-F8F5-4DC2-A686-A2A2A22C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50691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buNone/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 i="0" u="none">
                <a:solidFill>
                  <a:srgbClr val="503740"/>
                </a:solidFill>
                <a:latin typeface="DejaVu Serif"/>
                <a:ea typeface="DejaVu Serif"/>
                <a:cs typeface="DejaVu Serif"/>
              </a:rPr>
              <a:t>Strategic Decisions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BF5515A-BF2C-43C4-A5E9-16AC1872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836613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 u="none">
                <a:solidFill>
                  <a:srgbClr val="A24B69"/>
                </a:solidFill>
                <a:latin typeface="DejaVu Sans"/>
                <a:ea typeface="DejaVu Sans"/>
                <a:cs typeface="DejaVu Sans"/>
              </a:rPr>
              <a:t>COMPUTE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0A5E6A7-940E-4BE1-B54E-1AB5669E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1535112" cy="7543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247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247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247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247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247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247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247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247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247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buNone/>
              <a:defRPr sz="247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pPr>
            <a:r>
              <a:rPr sz="2475" b="0" i="0" u="none">
                <a:solidFill>
                  <a:srgbClr val="503740"/>
                </a:solidFill>
                <a:latin typeface="DejaVu Serif"/>
                <a:ea typeface="DejaVu Serif"/>
                <a:cs typeface="DejaVu Serif"/>
              </a:rPr>
              <a:t>AWS EKS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pPr>
            <a:r>
              <a:rPr sz="2475" b="0" i="0" u="none">
                <a:solidFill>
                  <a:srgbClr val="503740"/>
                </a:solidFill>
                <a:latin typeface="DejaVu Serif"/>
                <a:ea typeface="DejaVu Serif"/>
                <a:cs typeface="DejaVu Serif"/>
              </a:rPr>
              <a:t>vs EC2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DD4C89B-7CC6-4823-A1EC-B0E486F3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2227263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 u="none">
                <a:solidFill>
                  <a:srgbClr val="80646D"/>
                </a:solidFill>
                <a:latin typeface="DejaVu Sans"/>
                <a:ea typeface="DejaVu Sans"/>
                <a:cs typeface="DejaVu Sans"/>
              </a:rPr>
              <a:t>Built for automated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 u="none">
                <a:solidFill>
                  <a:srgbClr val="80646D"/>
                </a:solidFill>
                <a:latin typeface="DejaVu Sans"/>
                <a:ea typeface="DejaVu Sans"/>
                <a:cs typeface="DejaVu Sans"/>
              </a:rPr>
              <a:t>scaling.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038436C-E9A2-431E-BA6D-E8F9C721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24125"/>
            <a:ext cx="114935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 u="none">
                <a:solidFill>
                  <a:srgbClr val="A24B69"/>
                </a:solidFill>
                <a:latin typeface="DejaVu Sans"/>
                <a:ea typeface="DejaVu Sans"/>
                <a:cs typeface="DejaVu Sans"/>
              </a:rPr>
              <a:t>AUTOMATION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A55FDD2-9C8D-4C60-8E40-D3657982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086100"/>
            <a:ext cx="1609725" cy="7543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247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247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247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247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247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247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247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247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247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buNone/>
              <a:defRPr sz="247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pPr>
            <a:r>
              <a:rPr sz="2475" b="0" i="0" u="none">
                <a:solidFill>
                  <a:srgbClr val="503740"/>
                </a:solidFill>
                <a:latin typeface="DejaVu Serif"/>
                <a:ea typeface="DejaVu Serif"/>
                <a:cs typeface="DejaVu Serif"/>
              </a:rPr>
              <a:t>Actions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pPr>
            <a:r>
              <a:rPr sz="2475" b="0" i="0" u="none">
                <a:solidFill>
                  <a:srgbClr val="503740"/>
                </a:solidFill>
                <a:latin typeface="DejaVu Serif"/>
                <a:ea typeface="DejaVu Serif"/>
                <a:cs typeface="DejaVu Serif"/>
              </a:rPr>
              <a:t>vs Jenkins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506F169-F089-4414-A28A-5D837AFD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533900"/>
            <a:ext cx="20955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 u="none">
                <a:solidFill>
                  <a:srgbClr val="80646D"/>
                </a:solidFill>
                <a:latin typeface="DejaVu Sans"/>
                <a:ea typeface="DejaVu Sans"/>
                <a:cs typeface="DejaVu Sans"/>
              </a:rPr>
              <a:t>Zero maintenance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 u="none">
                <a:solidFill>
                  <a:srgbClr val="80646D"/>
                </a:solidFill>
                <a:latin typeface="DejaVu Sans"/>
                <a:ea typeface="DejaVu Sans"/>
                <a:cs typeface="DejaVu Sans"/>
              </a:rPr>
              <a:t>overhead.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19CD528-1123-45F4-B816-1337C0B8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24125"/>
            <a:ext cx="838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200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200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200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200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200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200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200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200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200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 u="none">
                <a:solidFill>
                  <a:srgbClr val="A24B69"/>
                </a:solidFill>
                <a:latin typeface="DejaVu Sans"/>
                <a:ea typeface="DejaVu Sans"/>
                <a:cs typeface="DejaVu Sans"/>
              </a:rPr>
              <a:t>SECURITY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6B7D7ED-B91D-46CA-A893-A1B346FF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86100"/>
            <a:ext cx="1643063" cy="7543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247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247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247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247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247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247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247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247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247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buNone/>
              <a:defRPr sz="247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pPr>
            <a:r>
              <a:rPr sz="2475" b="0" i="0" u="none">
                <a:solidFill>
                  <a:srgbClr val="503740"/>
                </a:solidFill>
                <a:latin typeface="DejaVu Serif"/>
                <a:ea typeface="DejaVu Serif"/>
                <a:cs typeface="DejaVu Serif"/>
              </a:rPr>
              <a:t>Trivy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pPr>
            <a:r>
              <a:rPr sz="2475" b="0" i="0" u="none">
                <a:solidFill>
                  <a:srgbClr val="503740"/>
                </a:solidFill>
                <a:latin typeface="DejaVu Serif"/>
                <a:ea typeface="DejaVu Serif"/>
                <a:cs typeface="DejaVu Serif"/>
              </a:rPr>
              <a:t>vs Manual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853EDEB-BD52-415F-AC77-212B8279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33900"/>
            <a:ext cx="2760663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 u="none">
                <a:solidFill>
                  <a:srgbClr val="80646D"/>
                </a:solidFill>
                <a:latin typeface="DejaVu Sans"/>
                <a:ea typeface="DejaVu Sans"/>
                <a:cs typeface="DejaVu Sans"/>
              </a:rPr>
              <a:t>Automated vulnerability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 i="0" u="none">
                <a:solidFill>
                  <a:srgbClr val="80646D"/>
                </a:solidFill>
                <a:latin typeface="DejaVu Sans"/>
                <a:ea typeface="DejaVu Sans"/>
                <a:cs typeface="DejaVu Sans"/>
              </a:rPr>
              <a:t>blocking.</a:t>
            </a:r>
          </a:p>
        </p:txBody>
      </p:sp>
      <p:sp>
        <p:nvSpPr>
          <p:cNvPr id="18" name="CareDesk">
            <a:extLst xmlns:a="http://schemas.openxmlformats.org/drawingml/2006/main">
              <a:ext uri="{FF2B5EF4-FFF2-40B4-BE49-F238E27FC236}">
                <a16:creationId xmlns:a16="http://schemas.microsoft.com/office/drawing/2014/main" id="{9C2E95F5-F06A-483C-B882-03A0079B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pPr>
            <a:r>
              <a: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rPr>
              <a:t>CareDesk</a:t>
            </a:r>
          </a:p>
        </p:txBody>
      </p:sp>
      <p:sp>
        <p:nvSpPr>
          <p:cNvPr id="19" name="06">
            <a:extLst xmlns:a="http://schemas.openxmlformats.org/drawingml/2006/main">
              <a:ext uri="{FF2B5EF4-FFF2-40B4-BE49-F238E27FC236}">
                <a16:creationId xmlns:a16="http://schemas.microsoft.com/office/drawing/2014/main" id="{82F67DFA-C6D8-45E7-BB44-CE11333C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674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79820051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AF7"/>
            </a:gs>
            <a:gs pos="100000">
              <a:srgbClr val="FFF7F2"/>
            </a:gs>
          </a:gsLst>
          <a:lin ang="15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0224F70-D5D8-4BD4-9471-75745CB8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40005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lnSpc>
                <a:spcPts val="4320"/>
              </a:lnSpc>
              <a:buNone/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pPr>
            <a:r>
              <a:rPr sz="3450" b="0" i="0" u="none">
                <a:solidFill>
                  <a:srgbClr val="503740"/>
                </a:solidFill>
                <a:latin typeface="DejaVu Serif"/>
                <a:ea typeface="DejaVu Serif"/>
                <a:cs typeface="DejaVu Serif"/>
              </a:rPr>
              <a:t>Automated</a:t>
            </a:r>
          </a:p>
          <a:p xmlns:a="http://schemas.openxmlformats.org/drawingml/2006/main">
            <a:pPr algn="l">
              <a:lnSpc>
                <a:spcPts val="4320"/>
              </a:lnSpc>
              <a:buNone/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pPr>
            <a:r>
              <a:rPr sz="3450" b="0" i="0" u="none">
                <a:solidFill>
                  <a:srgbClr val="503740"/>
                </a:solidFill>
                <a:latin typeface="DejaVu Serif"/>
                <a:ea typeface="DejaVu Serif"/>
                <a:cs typeface="DejaVu Serif"/>
              </a:rPr>
              <a:t>CI / CD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8E60DCA-FB5A-4ACA-976E-4DB1DD9A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05100"/>
            <a:ext cx="3455987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lnSpc>
                <a:spcPts val="2520"/>
              </a:lnSpc>
              <a:buNone/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 u="none">
                <a:solidFill>
                  <a:srgbClr val="503740"/>
                </a:solidFill>
                <a:latin typeface="DejaVu Sans"/>
                <a:ea typeface="DejaVu Sans"/>
                <a:cs typeface="DejaVu Sans"/>
              </a:rPr>
              <a:t>Passes 12/12 pytest cases first.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AD34ABD-B8DF-456F-889F-EB3B1A3B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05225"/>
            <a:ext cx="367665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lnSpc>
                <a:spcPts val="2520"/>
              </a:lnSpc>
              <a:buNone/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 u="none">
                <a:solidFill>
                  <a:srgbClr val="503740"/>
                </a:solidFill>
                <a:latin typeface="DejaVu Sans"/>
                <a:ea typeface="DejaVu Sans"/>
                <a:cs typeface="DejaVu Sans"/>
              </a:rPr>
              <a:t>Trivy strictly blocks HIGH/CRITICAL CVEs.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9E336CB-BD27-4312-9103-01F3C4F4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05350"/>
            <a:ext cx="367665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lnSpc>
                <a:spcPts val="2520"/>
              </a:lnSpc>
              <a:buNone/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 u="none">
                <a:solidFill>
                  <a:srgbClr val="503740"/>
                </a:solidFill>
                <a:latin typeface="DejaVu Sans"/>
                <a:ea typeface="DejaVu Sans"/>
                <a:cs typeface="DejaVu Sans"/>
              </a:rPr>
              <a:t>Publishes SHA-tagged images to GHCR.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7E2BBD0-3EFB-4968-8A11-8CB62470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20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lnSpc>
                <a:spcPts val="2520"/>
              </a:lnSpc>
              <a:buNone/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i="0" u="none">
                <a:solidFill>
                  <a:srgbClr val="A24B69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4E60D6E-725A-4CCB-9C42-E8F2AC27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20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lnSpc>
                <a:spcPts val="2520"/>
              </a:lnSpc>
              <a:buNone/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i="0" u="none">
                <a:solidFill>
                  <a:srgbClr val="A24B6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7CBE0AA-EE51-403C-BA1B-9E9FE77E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20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lnSpc>
                <a:spcPts val="2520"/>
              </a:lnSpc>
              <a:buNone/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i="0" u="none">
                <a:solidFill>
                  <a:srgbClr val="A24B69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CareDesk">
            <a:extLst xmlns:a="http://schemas.openxmlformats.org/drawingml/2006/main">
              <a:ext uri="{FF2B5EF4-FFF2-40B4-BE49-F238E27FC236}">
                <a16:creationId xmlns:a16="http://schemas.microsoft.com/office/drawing/2014/main" id="{9E040A71-8921-4368-85C3-BD4029BE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pPr>
            <a:r>
              <a: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rPr>
              <a:t>CareDesk</a:t>
            </a:r>
          </a:p>
        </p:txBody>
      </p:sp>
      <p:sp>
        <p:nvSpPr>
          <p:cNvPr id="12" name="07">
            <a:extLst xmlns:a="http://schemas.openxmlformats.org/drawingml/2006/main">
              <a:ext uri="{FF2B5EF4-FFF2-40B4-BE49-F238E27FC236}">
                <a16:creationId xmlns:a16="http://schemas.microsoft.com/office/drawing/2014/main" id="{3FDF45EF-13B1-43B3-B135-FC910BDE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674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D5FA17-B905-429F-85F2-15CD9D93DD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6409fd71e4082"/>
          <a:stretch xmlns:a="http://schemas.openxmlformats.org/drawingml/2006/main"/>
        </p:blipFill>
        <p:spPr>
          <a:xfrm xmlns:a="http://schemas.openxmlformats.org/drawingml/2006/main">
            <a:off x="5353050" y="1681959"/>
            <a:ext cx="6153150" cy="3417883"/>
          </a:xfrm>
          <a:prstGeom xmlns:a="http://schemas.openxmlformats.org/drawingml/2006/main" prst="rect">
            <a:avLst/>
          </a:prstGeom>
        </p:spPr>
      </p:pic>
      <p:sp>
        <p:nvSpPr>
          <p:cNvPr id="14" name="GitHub Actions workflow">
            <a:extLst xmlns:a="http://schemas.openxmlformats.org/drawingml/2006/main">
              <a:ext uri="{FF2B5EF4-FFF2-40B4-BE49-F238E27FC236}">
                <a16:creationId xmlns:a16="http://schemas.microsoft.com/office/drawing/2014/main" id="{8E8F5F20-4E4C-4E2B-9578-3C8684A7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334000"/>
            <a:ext cx="615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4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4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4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4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4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4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4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4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4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80646D"/>
                </a:solidFill>
                <a:latin typeface="DejaVu Sans"/>
                <a:ea typeface="DejaVu Sans"/>
                <a:cs typeface="DejaVu Sans"/>
              </a:rPr>
              <a:t>GitHub Actions workflow</a:t>
            </a:r>
          </a:p>
        </p:txBody>
      </p:sp>
    </p:spTree>
    <p:extLst>
      <p:ext uri="{BB962C8B-B14F-4D97-AF65-F5344CB8AC3E}">
        <p14:creationId xmlns:p14="http://schemas.microsoft.com/office/powerpoint/2010/main" val="1379099346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AF7"/>
            </a:gs>
            <a:gs pos="100000">
              <a:srgbClr val="FFF7F2"/>
            </a:gs>
          </a:gsLst>
          <a:lin ang="15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A286CC1-4204-4DB6-B69E-C229B891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952500"/>
            <a:ext cx="379095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lnSpc>
                <a:spcPts val="4320"/>
              </a:lnSpc>
              <a:buNone/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pPr>
            <a:r>
              <a:rPr sz="3450" b="0" i="0" u="none">
                <a:solidFill>
                  <a:srgbClr val="503740"/>
                </a:solidFill>
                <a:latin typeface="DejaVu Serif"/>
                <a:ea typeface="DejaVu Serif"/>
                <a:cs typeface="DejaVu Serif"/>
              </a:rPr>
              <a:t>Production</a:t>
            </a:r>
          </a:p>
          <a:p xmlns:a="http://schemas.openxmlformats.org/drawingml/2006/main">
            <a:pPr algn="l">
              <a:lnSpc>
                <a:spcPts val="4320"/>
              </a:lnSpc>
              <a:buNone/>
              <a:defRPr sz="34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pPr>
            <a:r>
              <a:rPr sz="3450" b="0" i="0" u="none">
                <a:solidFill>
                  <a:srgbClr val="503740"/>
                </a:solidFill>
                <a:latin typeface="DejaVu Serif"/>
                <a:ea typeface="DejaVu Serif"/>
                <a:cs typeface="DejaVu Serif"/>
              </a:rPr>
              <a:t>Cloud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28A4B78-A1AF-4AC9-8977-72D22473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05100"/>
            <a:ext cx="2484437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lnSpc>
                <a:spcPts val="2520"/>
              </a:lnSpc>
              <a:buNone/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 u="none">
                <a:solidFill>
                  <a:srgbClr val="503740"/>
                </a:solidFill>
                <a:latin typeface="DejaVu Sans"/>
                <a:ea typeface="DejaVu Sans"/>
                <a:cs typeface="DejaVu Sans"/>
              </a:rPr>
              <a:t>AWS EKS managed via</a:t>
            </a:r>
          </a:p>
          <a:p xmlns:a="http://schemas.openxmlformats.org/drawingml/2006/main">
            <a:pPr algn="l">
              <a:lnSpc>
                <a:spcPts val="2520"/>
              </a:lnSpc>
              <a:buNone/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 u="none">
                <a:solidFill>
                  <a:srgbClr val="503740"/>
                </a:solidFill>
                <a:latin typeface="DejaVu Sans"/>
                <a:ea typeface="DejaVu Sans"/>
                <a:cs typeface="DejaVu Sans"/>
              </a:rPr>
              <a:t>Terraform.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0BA0B9F-D592-436A-9DDE-778EB12D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05225"/>
            <a:ext cx="34671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lnSpc>
                <a:spcPts val="2520"/>
              </a:lnSpc>
              <a:buNone/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 u="none">
                <a:solidFill>
                  <a:srgbClr val="503740"/>
                </a:solidFill>
                <a:latin typeface="DejaVu Sans"/>
                <a:ea typeface="DejaVu Sans"/>
                <a:cs typeface="DejaVu Sans"/>
              </a:rPr>
              <a:t>Custom Helm chart deploys app replicas.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745947F-7309-48B5-8201-F0DEEDBA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05350"/>
            <a:ext cx="34671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lnSpc>
                <a:spcPts val="2520"/>
              </a:lnSpc>
              <a:buNone/>
              <a:defRPr sz="1725" b="0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 u="none">
                <a:solidFill>
                  <a:srgbClr val="503740"/>
                </a:solidFill>
                <a:latin typeface="DejaVu Sans"/>
                <a:ea typeface="DejaVu Sans"/>
                <a:cs typeface="DejaVu Sans"/>
              </a:rPr>
              <a:t>Traffic routed via Network Load Balancer.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EDFF5F-C0FB-40DB-AB39-67551D65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43200"/>
            <a:ext cx="20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lnSpc>
                <a:spcPts val="2520"/>
              </a:lnSpc>
              <a:buNone/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i="0" u="none">
                <a:solidFill>
                  <a:srgbClr val="A24B69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E1B51EC-ECE9-4C39-B7CA-30E8EFA3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43325"/>
            <a:ext cx="20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lnSpc>
                <a:spcPts val="2520"/>
              </a:lnSpc>
              <a:buNone/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i="0" u="none">
                <a:solidFill>
                  <a:srgbClr val="A24B6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98D492E-3F95-492C-BED7-A45E5FCD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43450"/>
            <a:ext cx="20002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lnSpc>
                <a:spcPts val="2520"/>
              </a:lnSpc>
              <a:buNone/>
              <a:defRPr sz="1125" b="1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i="0" u="none">
                <a:solidFill>
                  <a:srgbClr val="A24B69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CareDesk">
            <a:extLst xmlns:a="http://schemas.openxmlformats.org/drawingml/2006/main">
              <a:ext uri="{FF2B5EF4-FFF2-40B4-BE49-F238E27FC236}">
                <a16:creationId xmlns:a16="http://schemas.microsoft.com/office/drawing/2014/main" id="{CB90ACC6-98F7-45CF-93D5-82605ECF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pPr>
            <a:r>
              <a: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rPr>
              <a:t>CareDesk</a:t>
            </a:r>
          </a:p>
        </p:txBody>
      </p:sp>
      <p:sp>
        <p:nvSpPr>
          <p:cNvPr id="12" name="08">
            <a:extLst xmlns:a="http://schemas.openxmlformats.org/drawingml/2006/main">
              <a:ext uri="{FF2B5EF4-FFF2-40B4-BE49-F238E27FC236}">
                <a16:creationId xmlns:a16="http://schemas.microsoft.com/office/drawing/2014/main" id="{454289B1-3B3C-4C2A-AEAD-44412447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674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B61C3-D966-4895-A703-67E82C77D0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bf4d54c3b4161"/>
          <a:stretch xmlns:a="http://schemas.openxmlformats.org/drawingml/2006/main"/>
        </p:blipFill>
        <p:spPr>
          <a:xfrm xmlns:a="http://schemas.openxmlformats.org/drawingml/2006/main">
            <a:off x="727667" y="1238250"/>
            <a:ext cx="6488515" cy="3857625"/>
          </a:xfrm>
          <a:prstGeom xmlns:a="http://schemas.openxmlformats.org/drawingml/2006/main" prst="rect">
            <a:avLst/>
          </a:prstGeom>
        </p:spPr>
      </p:pic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4E0573-8BE3-4948-A645-A8230A998D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daa5cad7c4dba"/>
          <a:stretch xmlns:a="http://schemas.openxmlformats.org/drawingml/2006/main"/>
        </p:blipFill>
        <p:spPr>
          <a:xfrm xmlns:a="http://schemas.openxmlformats.org/drawingml/2006/main">
            <a:off x="1343025" y="5143500"/>
            <a:ext cx="5257800" cy="1028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149462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AF7"/>
            </a:gs>
            <a:gs pos="100000">
              <a:srgbClr val="FFF7F2"/>
            </a:gs>
          </a:gsLst>
          <a:lin ang="15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8730B52-322D-4575-960B-A1C26D72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59581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defPPr>
            <a:lvl1pPr algn="ctr"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1pPr>
            <a:lvl2pPr algn="ctr"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2pPr>
            <a:lvl3pPr algn="ctr"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3pPr>
            <a:lvl4pPr algn="ctr"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4pPr>
            <a:lvl5pPr algn="ctr"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5pPr>
            <a:lvl6pPr algn="ctr"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6pPr>
            <a:lvl7pPr algn="ctr"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7pPr>
            <a:lvl8pPr algn="ctr"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8pPr>
            <a:lvl9pPr algn="ctr"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ctr">
              <a:buNone/>
              <a:defRPr sz="360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pPr>
            <a:r>
              <a:rPr sz="3600" b="0" i="0" u="none">
                <a:solidFill>
                  <a:srgbClr val="503740"/>
                </a:solidFill>
                <a:latin typeface="DejaVu Serif"/>
                <a:ea typeface="DejaVu Serif"/>
                <a:cs typeface="DejaVu Serif"/>
              </a:rPr>
              <a:t>Measurable Results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B2BD942-26D9-4621-AFEE-19247176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57213" cy="990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90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defPPr>
            <a:lvl1pPr algn="ctr">
              <a:defRPr sz="690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1pPr>
            <a:lvl2pPr algn="ctr">
              <a:defRPr sz="690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2pPr>
            <a:lvl3pPr algn="ctr">
              <a:defRPr sz="690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3pPr>
            <a:lvl4pPr algn="ctr">
              <a:defRPr sz="690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4pPr>
            <a:lvl5pPr algn="ctr">
              <a:defRPr sz="690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5pPr>
            <a:lvl6pPr algn="ctr">
              <a:defRPr sz="690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6pPr>
            <a:lvl7pPr algn="ctr">
              <a:defRPr sz="690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7pPr>
            <a:lvl8pPr algn="ctr">
              <a:defRPr sz="690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8pPr>
            <a:lvl9pPr algn="ctr">
              <a:defRPr sz="690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ctr">
              <a:lnSpc>
                <a:spcPts val="7800"/>
              </a:lnSpc>
              <a:buNone/>
              <a:defRPr sz="690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pPr>
            <a:r>
              <a:rPr sz="6900" b="0" i="0" u="none">
                <a:solidFill>
                  <a:srgbClr val="A24B69"/>
                </a:solidFill>
                <a:latin typeface="DejaVu Serif"/>
                <a:ea typeface="DejaVu Serif"/>
                <a:cs typeface="DejaVu Serif"/>
              </a:rPr>
              <a:t>0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BD1AE5A-391F-47C6-9C76-8B3A07DC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00550"/>
            <a:ext cx="2517775" cy="2628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 u="none">
                <a:solidFill>
                  <a:srgbClr val="80646D"/>
                </a:solidFill>
                <a:latin typeface="DejaVu Sans"/>
                <a:ea typeface="DejaVu Sans"/>
                <a:cs typeface="DejaVu Sans"/>
              </a:rPr>
              <a:t>Security Vulnerabilities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FE65C3A-9342-4B12-83DA-16FBAB9F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857500"/>
            <a:ext cx="1387475" cy="990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90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defPPr>
            <a:lvl1pPr algn="ctr">
              <a:defRPr sz="690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1pPr>
            <a:lvl2pPr algn="ctr">
              <a:defRPr sz="690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2pPr>
            <a:lvl3pPr algn="ctr">
              <a:defRPr sz="690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3pPr>
            <a:lvl4pPr algn="ctr">
              <a:defRPr sz="690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4pPr>
            <a:lvl5pPr algn="ctr">
              <a:defRPr sz="690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5pPr>
            <a:lvl6pPr algn="ctr">
              <a:defRPr sz="690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6pPr>
            <a:lvl7pPr algn="ctr">
              <a:defRPr sz="690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7pPr>
            <a:lvl8pPr algn="ctr">
              <a:defRPr sz="690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8pPr>
            <a:lvl9pPr algn="ctr">
              <a:defRPr sz="690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ctr">
              <a:lnSpc>
                <a:spcPts val="7800"/>
              </a:lnSpc>
              <a:buNone/>
              <a:defRPr sz="690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pPr>
            <a:r>
              <a:rPr sz="6900" b="0" i="0" u="none">
                <a:solidFill>
                  <a:srgbClr val="A24B69"/>
                </a:solidFill>
                <a:latin typeface="DejaVu Serif"/>
                <a:ea typeface="DejaVu Serif"/>
                <a:cs typeface="DejaVu Serif"/>
              </a:rPr>
              <a:t>3m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1BA5E4E-CB04-4074-A962-A30F2288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00550"/>
            <a:ext cx="2746375" cy="2628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 u="none">
                <a:solidFill>
                  <a:srgbClr val="80646D"/>
                </a:solidFill>
                <a:latin typeface="DejaVu Sans"/>
                <a:ea typeface="DejaVu Sans"/>
                <a:cs typeface="DejaVu Sans"/>
              </a:rPr>
              <a:t>Automated Release Time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2E02E63-4CF5-4568-B577-885541C5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2505075" cy="990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90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defPPr>
            <a:lvl1pPr algn="ctr">
              <a:defRPr sz="690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1pPr>
            <a:lvl2pPr algn="ctr">
              <a:defRPr sz="690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2pPr>
            <a:lvl3pPr algn="ctr">
              <a:defRPr sz="690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3pPr>
            <a:lvl4pPr algn="ctr">
              <a:defRPr sz="690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4pPr>
            <a:lvl5pPr algn="ctr">
              <a:defRPr sz="690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5pPr>
            <a:lvl6pPr algn="ctr">
              <a:defRPr sz="690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6pPr>
            <a:lvl7pPr algn="ctr">
              <a:defRPr sz="690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7pPr>
            <a:lvl8pPr algn="ctr">
              <a:defRPr sz="690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8pPr>
            <a:lvl9pPr algn="ctr">
              <a:defRPr sz="690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ctr">
              <a:lnSpc>
                <a:spcPts val="7800"/>
              </a:lnSpc>
              <a:buNone/>
              <a:defRPr sz="6900" b="0">
                <a:solidFill>
                  <a:srgbClr val="A24B69"/>
                </a:solidFill>
                <a:latin typeface="DejaVu Serif"/>
                <a:ea typeface="DejaVu Serif"/>
                <a:cs typeface="DejaVu Serif"/>
              </a:defRPr>
            </a:pPr>
            <a:r>
              <a:rPr sz="6900" b="0" i="0" u="none">
                <a:solidFill>
                  <a:srgbClr val="A24B69"/>
                </a:solidFill>
                <a:latin typeface="DejaVu Serif"/>
                <a:ea typeface="DejaVu Serif"/>
                <a:cs typeface="DejaVu Serif"/>
              </a:rPr>
              <a:t>100%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703A766-9F4F-4143-8321-E9CE15EA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400550"/>
            <a:ext cx="1971675" cy="2628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i="0" u="none">
                <a:solidFill>
                  <a:srgbClr val="80646D"/>
                </a:solidFill>
                <a:latin typeface="DejaVu Sans"/>
                <a:ea typeface="DejaVu Sans"/>
                <a:cs typeface="DejaVu Sans"/>
              </a:rPr>
              <a:t>Live Observability</a:t>
            </a:r>
          </a:p>
        </p:txBody>
      </p:sp>
      <p:sp>
        <p:nvSpPr>
          <p:cNvPr id="9" name="CareDesk">
            <a:extLst xmlns:a="http://schemas.openxmlformats.org/drawingml/2006/main">
              <a:ext uri="{FF2B5EF4-FFF2-40B4-BE49-F238E27FC236}">
                <a16:creationId xmlns:a16="http://schemas.microsoft.com/office/drawing/2014/main" id="{857F576A-FCEA-4B98-81DB-3729CEC6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defPPr>
            <a:lvl1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1pPr>
            <a:lvl2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2pPr>
            <a:lvl3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3pPr>
            <a:lvl4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4pPr>
            <a:lvl5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5pPr>
            <a:lvl6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6pPr>
            <a:lvl7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7pPr>
            <a:lvl8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8pPr>
            <a:lvl9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defRPr>
            </a:pPr>
            <a:r>
              <a:rPr sz="1200" b="0">
                <a:solidFill>
                  <a:srgbClr val="80646D"/>
                </a:solidFill>
                <a:latin typeface="DejaVu Serif"/>
                <a:ea typeface="DejaVu Serif"/>
                <a:cs typeface="DejaVu Serif"/>
              </a:rPr>
              <a:t>CareDesk</a:t>
            </a:r>
          </a:p>
        </p:txBody>
      </p:sp>
      <p:sp>
        <p:nvSpPr>
          <p:cNvPr id="10" name="09">
            <a:extLst xmlns:a="http://schemas.openxmlformats.org/drawingml/2006/main">
              <a:ext uri="{FF2B5EF4-FFF2-40B4-BE49-F238E27FC236}">
                <a16:creationId xmlns:a16="http://schemas.microsoft.com/office/drawing/2014/main" id="{80F42716-4416-4EAB-96A9-99C9F8D5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674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80646D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05554705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8DFE7"/>
            </a:gs>
            <a:gs pos="100000">
              <a:srgbClr val="FFF0E4"/>
            </a:gs>
          </a:gsLst>
          <a:lin ang="15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A429E-8592-43C7-98EC-A45686B1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381125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000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000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000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000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000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000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000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000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000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pPr>
            <a:r>
              <a:rPr>
                <a:latin typeface="DejaVu Sans"/>
                <a:ea typeface="DejaVu Sans"/>
                <a:cs typeface="DejaVu Sans"/>
              </a:rPr>
              <a:t>⋆˚</a:t>
            </a:r>
            <a:r>
              <a:rPr>
                <a:latin typeface="CareDeskTibetan"/>
                <a:ea typeface="CareDeskTibetan"/>
                <a:cs typeface="CareDeskTibetan"/>
              </a:rPr>
              <a:t>࿔</a:t>
            </a:r>
          </a:p>
        </p:txBody>
      </p:sp>
      <p:sp>
        <p:nvSpPr>
          <p:cNvPr id="2" name="Thank You">
            <a:extLst xmlns:a="http://schemas.openxmlformats.org/drawingml/2006/main">
              <a:ext uri="{FF2B5EF4-FFF2-40B4-BE49-F238E27FC236}">
                <a16:creationId xmlns:a16="http://schemas.microsoft.com/office/drawing/2014/main" id="{DD67A587-68CD-457D-8A9F-C739A88F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193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5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defPPr>
            <a:lvl1pPr algn="ctr">
              <a:defRPr sz="5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1pPr>
            <a:lvl2pPr algn="ctr">
              <a:defRPr sz="5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2pPr>
            <a:lvl3pPr algn="ctr">
              <a:defRPr sz="5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3pPr>
            <a:lvl4pPr algn="ctr">
              <a:defRPr sz="5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4pPr>
            <a:lvl5pPr algn="ctr">
              <a:defRPr sz="5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5pPr>
            <a:lvl6pPr algn="ctr">
              <a:defRPr sz="5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6pPr>
            <a:lvl7pPr algn="ctr">
              <a:defRPr sz="5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7pPr>
            <a:lvl8pPr algn="ctr">
              <a:defRPr sz="5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8pPr>
            <a:lvl9pPr algn="ctr">
              <a:defRPr sz="5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lvl9pPr>
          </a:lstStyle>
          <a:p xmlns:a="http://schemas.openxmlformats.org/drawingml/2006/main">
            <a:pPr algn="ctr">
              <a:defRPr sz="5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defRPr>
            </a:pPr>
            <a:r>
              <a:rPr sz="5250" b="0">
                <a:solidFill>
                  <a:srgbClr val="503740"/>
                </a:solidFill>
                <a:latin typeface="DejaVu Serif"/>
                <a:ea typeface="DejaVu Serif"/>
                <a:cs typeface="DejaVu Serif"/>
              </a:rPr>
              <a:t>Thank You</a:t>
            </a:r>
          </a:p>
        </p:txBody>
      </p:sp>
      <p:sp>
        <p:nvSpPr>
          <p:cNvPr id="3" name="Ankita Tripathi">
            <a:extLst xmlns:a="http://schemas.openxmlformats.org/drawingml/2006/main">
              <a:ext uri="{FF2B5EF4-FFF2-40B4-BE49-F238E27FC236}">
                <a16:creationId xmlns:a16="http://schemas.microsoft.com/office/drawing/2014/main" id="{02E61756-0E64-43EC-A830-C916FBCA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909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025" b="1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025" b="1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025" b="1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025" b="1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025" b="1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025" b="1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025" b="1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025" b="1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025" b="1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50374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503740"/>
                </a:solidFill>
                <a:latin typeface="DejaVu Sans"/>
                <a:ea typeface="DejaVu Sans"/>
                <a:cs typeface="DejaVu Sans"/>
              </a:rPr>
              <a:t>Ankita Tripathi</a:t>
            </a:r>
          </a:p>
        </p:txBody>
      </p:sp>
      <p:sp>
        <p:nvSpPr>
          <p:cNvPr id="4" name="ankita.24bcs10062">
            <a:extLst xmlns:a="http://schemas.openxmlformats.org/drawingml/2006/main">
              <a:ext uri="{FF2B5EF4-FFF2-40B4-BE49-F238E27FC236}">
                <a16:creationId xmlns:a16="http://schemas.microsoft.com/office/drawing/2014/main" id="{FCFF6956-5B54-4A91-9F05-B421276D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481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57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57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57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57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57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57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57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57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57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8064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80646D"/>
                </a:solidFill>
                <a:latin typeface="DejaVu Sans"/>
                <a:ea typeface="DejaVu Sans"/>
                <a:cs typeface="DejaVu Sans"/>
              </a:rPr>
              <a:t>ankita.24bcs10062</a:t>
            </a:r>
          </a:p>
        </p:txBody>
      </p:sp>
      <p:sp>
        <p:nvSpPr>
          <p:cNvPr id="5" name="github.com/vvsleepy/caredesk">
            <a:extLst xmlns:a="http://schemas.openxmlformats.org/drawingml/2006/main">
              <a:ext uri="{FF2B5EF4-FFF2-40B4-BE49-F238E27FC236}">
                <a16:creationId xmlns:a16="http://schemas.microsoft.com/office/drawing/2014/main" id="{D18E8471-7CE9-403B-8F41-BAB16ECE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863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A24B6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A24B69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9b69dffb33694638"/>
              </a:rPr>
              <a:t>github.com/vvsleepy/caredesk</a:t>
            </a:r>
          </a:p>
        </p:txBody>
      </p:sp>
    </p:spTree>
    <p:extLst>
      <p:ext uri="{BB962C8B-B14F-4D97-AF65-F5344CB8AC3E}">
        <p14:creationId xmlns:p14="http://schemas.microsoft.com/office/powerpoint/2010/main" val="75647486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Ankita Tripathi</dc:creator>
  <lastModifiedBy>Ankita Tripathi</lastModifiedBy>
  <dc:title>CareDesk DevOps Capstone</dc:title>
  <dcterms:created xsi:type="dcterms:W3CDTF">2026-10-17T11:06:17.8770000Z</dcterms:created>
  <dcterms:modified xsi:type="dcterms:W3CDTF">2026-10-17T11:06:17.8770000Z</dcterms:modified>
</coreProperties>
</file>